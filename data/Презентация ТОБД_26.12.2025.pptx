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1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91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048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94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99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254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19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199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332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58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41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F20514E-ABFD-4D02-B3C1-DE83704426B2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10C688-5EBB-491E-A7E6-89093D00E87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88328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6FA3C-4F6C-9B68-7529-10D1B4EC3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000" dirty="0"/>
              <a:t>Проектная работа по ТОБД</a:t>
            </a:r>
            <a:br>
              <a:rPr lang="ru-RU" sz="3000" dirty="0"/>
            </a:br>
            <a:br>
              <a:rPr lang="ru-RU" sz="3000" dirty="0"/>
            </a:br>
            <a:r>
              <a:rPr lang="ru-RU" sz="3000" dirty="0"/>
              <a:t>«Выбросы загрязняющих веществ в воздух по регионам и районам России»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4E1C66-8E9E-6E21-6FE3-21015C8F0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Бабичев Г.А., Быков А.Т., Романов Г.М. ПМ23-6</a:t>
            </a:r>
          </a:p>
        </p:txBody>
      </p:sp>
    </p:spTree>
    <p:extLst>
      <p:ext uri="{BB962C8B-B14F-4D97-AF65-F5344CB8AC3E}">
        <p14:creationId xmlns:p14="http://schemas.microsoft.com/office/powerpoint/2010/main" val="252095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71269-6870-7899-3106-00DC45A5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DF211F-296C-A08D-52A9-FC13B0B3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Этап 1: Определение темы и подготовка данных для проекта</a:t>
            </a:r>
            <a:endParaRPr lang="ru-RU" dirty="0"/>
          </a:p>
          <a:p>
            <a:r>
              <a:rPr lang="ru-RU" b="1" dirty="0"/>
              <a:t>Этап 2: Предобработка данных. Настройка ETL-процесса. Загрузка через данных через </a:t>
            </a:r>
            <a:r>
              <a:rPr lang="ru-RU" b="1" dirty="0" err="1"/>
              <a:t>Dask</a:t>
            </a:r>
            <a:r>
              <a:rPr lang="ru-RU" b="1" dirty="0"/>
              <a:t>. Хранение в </a:t>
            </a:r>
            <a:r>
              <a:rPr lang="ru-RU" b="1" dirty="0" err="1"/>
              <a:t>Sqllite</a:t>
            </a:r>
            <a:endParaRPr lang="ru-RU" dirty="0"/>
          </a:p>
          <a:p>
            <a:r>
              <a:rPr lang="ru-RU" b="1" dirty="0"/>
              <a:t>Этап 3: Визуализация. </a:t>
            </a:r>
            <a:r>
              <a:rPr lang="ru-RU" b="1" dirty="0" err="1"/>
              <a:t>Streamlit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634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02044-5215-FDE7-A2DD-5407E7815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Этап 1: Определение темы и подготовка данных для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F65221-437F-3C8D-99FD-7F26365D9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Тема</a:t>
            </a:r>
            <a:r>
              <a:rPr lang="en-US" b="1" dirty="0"/>
              <a:t>: </a:t>
            </a:r>
            <a:r>
              <a:rPr lang="ru-RU" dirty="0"/>
              <a:t>“Выбросы загрязняющих веществ в воздух по регионам и районам России”, так как он максимально приближен к предложенной теме “3. Анализ климатических данных.” </a:t>
            </a:r>
            <a:endParaRPr lang="en-US" dirty="0"/>
          </a:p>
          <a:p>
            <a:r>
              <a:rPr lang="ru-RU" b="1" dirty="0"/>
              <a:t>Ресурс</a:t>
            </a:r>
            <a:r>
              <a:rPr lang="en-US" b="1" dirty="0"/>
              <a:t>: </a:t>
            </a:r>
            <a:r>
              <a:rPr lang="ru-RU" dirty="0"/>
              <a:t>“Если быть точным”, [https://tochno.st]</a:t>
            </a:r>
            <a:endParaRPr lang="en-US" dirty="0"/>
          </a:p>
          <a:p>
            <a:r>
              <a:rPr lang="ru-RU" b="1" dirty="0"/>
              <a:t>Краткое описание</a:t>
            </a:r>
            <a:r>
              <a:rPr lang="en-US" b="1" dirty="0"/>
              <a:t>:</a:t>
            </a:r>
          </a:p>
          <a:p>
            <a:pPr lvl="1"/>
            <a:r>
              <a:rPr lang="ru-RU" dirty="0"/>
              <a:t>Данные о загрязнении воздуха по регионам и районам России за 2019-2024 годы на основании формы 2-ТП (воздух) Росприроднадзора.</a:t>
            </a:r>
          </a:p>
          <a:p>
            <a:pPr lvl="1"/>
            <a:r>
              <a:rPr lang="ru-RU" dirty="0"/>
              <a:t>Единица наблюдения в наборе данных — муниципальное образование или регион, по которому собирались данные. Каждое наблюдение описано с помощью следующих характеристик: наименование, уровень и код ОКТМО территории, название и код загрязняющего вещества, тип респондента, вид экономической деятельности. Всего 17 показателей.</a:t>
            </a:r>
          </a:p>
          <a:p>
            <a:pPr lvl="1"/>
            <a:r>
              <a:rPr lang="ru-RU" dirty="0"/>
              <a:t>Датасет доступен в формате CSV (кодировка: «UTF-8», разделитель: «;»), XLSX (разбит по отдельным показателям) и PARQUET.</a:t>
            </a: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306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3B46D-FEAD-E252-370B-5C90C088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Внешний вид источника</a:t>
            </a:r>
          </a:p>
        </p:txBody>
      </p:sp>
      <p:pic>
        <p:nvPicPr>
          <p:cNvPr id="5" name="Объект 4" descr="Изображение выглядит как текст, снимок экрана, Шриф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11496F-112E-82AF-A2A1-B7B0FD893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861" y="2103438"/>
            <a:ext cx="8550277" cy="3932237"/>
          </a:xfrm>
        </p:spPr>
      </p:pic>
    </p:spTree>
    <p:extLst>
      <p:ext uri="{BB962C8B-B14F-4D97-AF65-F5344CB8AC3E}">
        <p14:creationId xmlns:p14="http://schemas.microsoft.com/office/powerpoint/2010/main" val="37101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A1FDF-2977-1C95-DA84-6D5AB649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Этап 2: Предобработка данных. Настройка ETL-процесса.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6D21B3-F353-B4E9-A911-112F0A8C9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Что использовал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Dask</a:t>
            </a:r>
            <a:r>
              <a:rPr lang="en-US" dirty="0"/>
              <a:t> </a:t>
            </a:r>
            <a:r>
              <a:rPr lang="ru-RU" dirty="0"/>
              <a:t>для оптимизированной загрузки данных из </a:t>
            </a:r>
            <a:r>
              <a:rPr lang="en-US" dirty="0"/>
              <a:t>.csv </a:t>
            </a:r>
            <a:r>
              <a:rPr lang="ru-RU" dirty="0"/>
              <a:t>файла</a:t>
            </a:r>
          </a:p>
          <a:p>
            <a:pPr lvl="1"/>
            <a:r>
              <a:rPr lang="en-US" dirty="0"/>
              <a:t>Prefect </a:t>
            </a:r>
            <a:r>
              <a:rPr lang="ru-RU" dirty="0"/>
              <a:t>для настройки </a:t>
            </a:r>
            <a:r>
              <a:rPr lang="ru-RU" dirty="0" err="1"/>
              <a:t>оркестрации</a:t>
            </a:r>
            <a:r>
              <a:rPr lang="ru-RU" dirty="0"/>
              <a:t> </a:t>
            </a:r>
          </a:p>
          <a:p>
            <a:pPr lvl="1"/>
            <a:r>
              <a:rPr lang="en-US" dirty="0" err="1"/>
              <a:t>Sqllite</a:t>
            </a:r>
            <a:r>
              <a:rPr lang="en-US" dirty="0"/>
              <a:t> </a:t>
            </a:r>
            <a:r>
              <a:rPr lang="ru-RU" dirty="0"/>
              <a:t>для хранения табличных данных </a:t>
            </a:r>
            <a:endParaRPr lang="en-US" dirty="0"/>
          </a:p>
          <a:p>
            <a:r>
              <a:rPr lang="ru-RU" dirty="0"/>
              <a:t>Реализованные задачи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Задача извлечения данных из CSV файла</a:t>
            </a:r>
          </a:p>
          <a:p>
            <a:pPr lvl="1"/>
            <a:r>
              <a:rPr lang="ru-RU" dirty="0"/>
              <a:t>Задача преобразования и очистки данных</a:t>
            </a:r>
          </a:p>
          <a:p>
            <a:pPr lvl="1"/>
            <a:r>
              <a:rPr lang="ru-RU" dirty="0"/>
              <a:t>Задача создания таблиц в базе данных. Возвращает статистику по созданным таблицам</a:t>
            </a:r>
          </a:p>
          <a:p>
            <a:pPr lvl="1"/>
            <a:r>
              <a:rPr lang="ru-RU" dirty="0"/>
              <a:t>Задача валидации базы данных. Проверяет корректность созданных таблиц</a:t>
            </a:r>
            <a:endParaRPr lang="en-US" dirty="0"/>
          </a:p>
          <a:p>
            <a:r>
              <a:rPr lang="ru-RU" dirty="0"/>
              <a:t>Итог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 err="1"/>
              <a:t>air_emissions</a:t>
            </a:r>
            <a:r>
              <a:rPr lang="ru-RU" dirty="0"/>
              <a:t> - основная база данных</a:t>
            </a:r>
          </a:p>
          <a:p>
            <a:pPr lvl="1"/>
            <a:r>
              <a:rPr lang="ru-RU" dirty="0" err="1"/>
              <a:t>indicator_codes</a:t>
            </a:r>
            <a:r>
              <a:rPr lang="ru-RU" dirty="0"/>
              <a:t> - хранит расшифровки кодов способов выброса</a:t>
            </a:r>
          </a:p>
          <a:p>
            <a:pPr lvl="1"/>
            <a:r>
              <a:rPr lang="ru-RU" dirty="0" err="1"/>
              <a:t>location_codes</a:t>
            </a:r>
            <a:r>
              <a:rPr lang="ru-RU" dirty="0"/>
              <a:t> - хранит данные по населенным пунктам, регион, район, код район, тип района</a:t>
            </a:r>
          </a:p>
          <a:p>
            <a:pPr lvl="1"/>
            <a:r>
              <a:rPr lang="ru-RU" dirty="0" err="1"/>
              <a:t>substance_types</a:t>
            </a:r>
            <a:r>
              <a:rPr lang="ru-RU" dirty="0"/>
              <a:t> - расшифровка кода выбрасываемых элементов</a:t>
            </a:r>
          </a:p>
        </p:txBody>
      </p:sp>
    </p:spTree>
    <p:extLst>
      <p:ext uri="{BB962C8B-B14F-4D97-AF65-F5344CB8AC3E}">
        <p14:creationId xmlns:p14="http://schemas.microsoft.com/office/powerpoint/2010/main" val="333052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F1878-4259-FF53-E9E1-E57B6323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оркестратора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DEE74EF5-688E-F02F-99A1-67FF1632D59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95514" y="2103438"/>
            <a:ext cx="7800972" cy="393223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598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15862-83E8-0554-73CB-0DF34BC9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Этап 3: Визуализация. </a:t>
            </a:r>
            <a:r>
              <a:rPr lang="ru-RU" dirty="0" err="1"/>
              <a:t>Streamlit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B0B298-CDD8-93A2-AC55-F413FF21C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Почему выбрал</a:t>
            </a:r>
            <a:r>
              <a:rPr lang="en-US" dirty="0"/>
              <a:t>: </a:t>
            </a:r>
            <a:r>
              <a:rPr lang="ru-RU" dirty="0"/>
              <a:t>решил использовать </a:t>
            </a:r>
            <a:r>
              <a:rPr lang="ru-RU" dirty="0" err="1"/>
              <a:t>streamlit</a:t>
            </a:r>
            <a:r>
              <a:rPr lang="ru-RU" dirty="0"/>
              <a:t>, так как был с ним немного знаком, плюс достаточно простая архитектура написания кода.</a:t>
            </a:r>
          </a:p>
          <a:p>
            <a:r>
              <a:rPr lang="ru-RU" dirty="0"/>
              <a:t>Функционал </a:t>
            </a:r>
            <a:r>
              <a:rPr lang="ru-RU" dirty="0" err="1"/>
              <a:t>сайдборда</a:t>
            </a:r>
            <a:endParaRPr lang="ru-RU" dirty="0"/>
          </a:p>
          <a:p>
            <a:pPr lvl="1"/>
            <a:r>
              <a:rPr lang="ru-RU" dirty="0"/>
              <a:t>Список расшифровок кодов</a:t>
            </a:r>
          </a:p>
          <a:p>
            <a:pPr lvl="1"/>
            <a:r>
              <a:rPr lang="ru-RU" dirty="0"/>
              <a:t>Выбор раздела данных</a:t>
            </a:r>
          </a:p>
          <a:p>
            <a:pPr lvl="2"/>
            <a:r>
              <a:rPr lang="ru-RU" dirty="0"/>
              <a:t>Раздел 1 — Баланс по всем веществам</a:t>
            </a:r>
          </a:p>
          <a:p>
            <a:pPr lvl="2"/>
            <a:r>
              <a:rPr lang="ru-RU" dirty="0"/>
              <a:t>Раздел 5 — Выбросы загрязняющих веществ в атмосферный воздух от отдельных групп источников загрязнения</a:t>
            </a:r>
          </a:p>
          <a:p>
            <a:pPr lvl="1"/>
            <a:r>
              <a:rPr lang="ru-RU" dirty="0"/>
              <a:t>Выбор года, можно выбрать несколько для анализа динамики</a:t>
            </a:r>
          </a:p>
          <a:p>
            <a:pPr lvl="1"/>
            <a:r>
              <a:rPr lang="ru-RU" dirty="0"/>
              <a:t>Группировка по региону, либо же по районам региона</a:t>
            </a:r>
          </a:p>
          <a:p>
            <a:pPr lvl="1"/>
            <a:r>
              <a:rPr lang="ru-RU" dirty="0"/>
              <a:t>Фильтр регионов</a:t>
            </a:r>
          </a:p>
          <a:p>
            <a:pPr lvl="1"/>
            <a:r>
              <a:rPr lang="ru-RU" dirty="0"/>
              <a:t>Фильтр по веществам</a:t>
            </a:r>
          </a:p>
          <a:p>
            <a:pPr lvl="1"/>
            <a:r>
              <a:rPr lang="ru-RU" dirty="0"/>
              <a:t>Фильтрам по способам выбросов</a:t>
            </a:r>
          </a:p>
          <a:p>
            <a:pPr lvl="1"/>
            <a:r>
              <a:rPr lang="ru-RU" dirty="0"/>
              <a:t>Настройка цветов графиков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55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78B80-1E91-5809-ED5D-3F60B059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Внешний вид </a:t>
            </a:r>
            <a:r>
              <a:rPr lang="ru-RU" dirty="0" err="1"/>
              <a:t>сайдборда</a:t>
            </a:r>
            <a:endParaRPr lang="ru-RU" dirty="0"/>
          </a:p>
        </p:txBody>
      </p:sp>
      <p:pic>
        <p:nvPicPr>
          <p:cNvPr id="4" name="image3.png">
            <a:extLst>
              <a:ext uri="{FF2B5EF4-FFF2-40B4-BE49-F238E27FC236}">
                <a16:creationId xmlns:a16="http://schemas.microsoft.com/office/drawing/2014/main" id="{47CFAD6C-9FFB-5B90-141E-813B36A3A3B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66799" y="2014193"/>
            <a:ext cx="2340000" cy="3960000"/>
          </a:xfrm>
          <a:prstGeom prst="rect">
            <a:avLst/>
          </a:prstGeom>
          <a:ln/>
        </p:spPr>
      </p:pic>
      <p:pic>
        <p:nvPicPr>
          <p:cNvPr id="5" name="image4.png">
            <a:extLst>
              <a:ext uri="{FF2B5EF4-FFF2-40B4-BE49-F238E27FC236}">
                <a16:creationId xmlns:a16="http://schemas.microsoft.com/office/drawing/2014/main" id="{04ABB00E-B45B-C38D-C18C-4BF3107B331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566641" y="2014191"/>
            <a:ext cx="2340000" cy="3960000"/>
          </a:xfrm>
          <a:prstGeom prst="rect">
            <a:avLst/>
          </a:prstGeom>
          <a:ln/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9DEFC443-8463-CE26-2481-E83FD542F30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285360" y="2014191"/>
            <a:ext cx="2340000" cy="3960000"/>
          </a:xfrm>
          <a:prstGeom prst="rect">
            <a:avLst/>
          </a:prstGeom>
          <a:ln/>
        </p:spPr>
      </p:pic>
      <p:pic>
        <p:nvPicPr>
          <p:cNvPr id="7" name="image2.png">
            <a:extLst>
              <a:ext uri="{FF2B5EF4-FFF2-40B4-BE49-F238E27FC236}">
                <a16:creationId xmlns:a16="http://schemas.microsoft.com/office/drawing/2014/main" id="{8DB7BA39-128E-E4F5-2583-1082AF705CE1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8763673" y="2014192"/>
            <a:ext cx="2340000" cy="3960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37264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397F-600F-F8C4-9438-E6DAA7F2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3: Визуализация. </a:t>
            </a:r>
            <a:r>
              <a:rPr lang="ru-RU" dirty="0" err="1"/>
              <a:t>Streamlit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7D1BC-C260-FDA7-6681-A1AFD6E7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На главной страница отображается краткая сводка</a:t>
            </a:r>
          </a:p>
          <a:p>
            <a:pPr lvl="1"/>
            <a:r>
              <a:rPr lang="ru-RU" dirty="0"/>
              <a:t>Суммарное количество </a:t>
            </a:r>
            <a:r>
              <a:rPr lang="ru-RU" dirty="0" err="1"/>
              <a:t>выбрасов</a:t>
            </a:r>
            <a:r>
              <a:rPr lang="ru-RU" dirty="0"/>
              <a:t> в тысячах тонн</a:t>
            </a:r>
          </a:p>
          <a:p>
            <a:pPr lvl="1"/>
            <a:r>
              <a:rPr lang="ru-RU" dirty="0"/>
              <a:t>Среднее количество </a:t>
            </a:r>
            <a:r>
              <a:rPr lang="ru-RU" dirty="0" err="1"/>
              <a:t>выбрасов</a:t>
            </a:r>
            <a:r>
              <a:rPr lang="ru-RU" dirty="0"/>
              <a:t> в тысячах тонн по региону/району </a:t>
            </a:r>
          </a:p>
          <a:p>
            <a:pPr lvl="1"/>
            <a:r>
              <a:rPr lang="ru-RU" dirty="0"/>
              <a:t>Сколько регионов выбрано</a:t>
            </a:r>
          </a:p>
          <a:p>
            <a:pPr lvl="1"/>
            <a:r>
              <a:rPr lang="ru-RU" dirty="0"/>
              <a:t>Сколько лет выбрано</a:t>
            </a:r>
          </a:p>
          <a:p>
            <a:r>
              <a:rPr lang="ru-RU" dirty="0"/>
              <a:t>Основные диаграммы</a:t>
            </a:r>
          </a:p>
          <a:p>
            <a:pPr lvl="1"/>
            <a:r>
              <a:rPr lang="ru-RU" dirty="0"/>
              <a:t>Столбчатые диаграммы с суммарными </a:t>
            </a:r>
            <a:r>
              <a:rPr lang="ru-RU" dirty="0" err="1"/>
              <a:t>выбрасами</a:t>
            </a:r>
            <a:r>
              <a:rPr lang="ru-RU" dirty="0"/>
              <a:t> по веществам по регионам по годам</a:t>
            </a:r>
          </a:p>
          <a:p>
            <a:r>
              <a:rPr lang="ru-RU" dirty="0"/>
              <a:t>Динамика</a:t>
            </a:r>
          </a:p>
          <a:p>
            <a:pPr lvl="1"/>
            <a:r>
              <a:rPr lang="ru-RU" dirty="0"/>
              <a:t>Динамика суммарных выбросов по веществам по годам</a:t>
            </a:r>
          </a:p>
          <a:p>
            <a:pPr lvl="1"/>
            <a:r>
              <a:rPr lang="ru-RU" dirty="0"/>
              <a:t>Сравнения с предыдущим годом по N-1 годам</a:t>
            </a:r>
          </a:p>
          <a:p>
            <a:pPr lvl="1"/>
            <a:r>
              <a:rPr lang="ru-RU" dirty="0"/>
              <a:t>Итоговый результат с ростом / спадом / отсутствием изменений по показателям</a:t>
            </a:r>
          </a:p>
          <a:p>
            <a:r>
              <a:rPr lang="ru-RU" dirty="0"/>
              <a:t>По регионам:</a:t>
            </a:r>
          </a:p>
          <a:p>
            <a:pPr lvl="1"/>
            <a:r>
              <a:rPr lang="ru-RU" dirty="0"/>
              <a:t>Общие выбросы по регионам (сумма всех веществ) либо выбросы по топ-20 районам </a:t>
            </a:r>
          </a:p>
          <a:p>
            <a:r>
              <a:rPr lang="ru-RU" dirty="0"/>
              <a:t>Детали</a:t>
            </a:r>
          </a:p>
          <a:p>
            <a:pPr lvl="1"/>
            <a:r>
              <a:rPr lang="ru-RU" dirty="0"/>
              <a:t>Исходные данные</a:t>
            </a:r>
          </a:p>
          <a:p>
            <a:pPr lvl="1"/>
            <a:r>
              <a:rPr lang="ru-RU" dirty="0"/>
              <a:t>Базовая статистика по веществам</a:t>
            </a:r>
          </a:p>
        </p:txBody>
      </p:sp>
    </p:spTree>
    <p:extLst>
      <p:ext uri="{BB962C8B-B14F-4D97-AF65-F5344CB8AC3E}">
        <p14:creationId xmlns:p14="http://schemas.microsoft.com/office/powerpoint/2010/main" val="2556083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C172C-A0CE-2C72-A229-1DB86239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CF20C-3636-EF5D-98E5-B16C9C63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Внешний вид главной страницы + Основные диаграммы</a:t>
            </a:r>
          </a:p>
        </p:txBody>
      </p:sp>
      <p:pic>
        <p:nvPicPr>
          <p:cNvPr id="4" name="image8.png">
            <a:extLst>
              <a:ext uri="{FF2B5EF4-FFF2-40B4-BE49-F238E27FC236}">
                <a16:creationId xmlns:a16="http://schemas.microsoft.com/office/drawing/2014/main" id="{0E1A21C9-34FC-A784-7005-A67159B6CC9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57217" y="2103438"/>
            <a:ext cx="7877566" cy="393223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82773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00B3A-4200-9817-FF0B-A76DEB40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Внешний вид главной страницы + Динамика</a:t>
            </a:r>
          </a:p>
        </p:txBody>
      </p:sp>
      <p:pic>
        <p:nvPicPr>
          <p:cNvPr id="4" name="image7.png">
            <a:extLst>
              <a:ext uri="{FF2B5EF4-FFF2-40B4-BE49-F238E27FC236}">
                <a16:creationId xmlns:a16="http://schemas.microsoft.com/office/drawing/2014/main" id="{1AE4B657-85DD-9ECD-5D1B-19B03F8016F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57217" y="2103438"/>
            <a:ext cx="7877566" cy="393223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673066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6A92-B080-7101-2819-19EAA90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A7720-752E-6D16-FA9F-A6D1A720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Внешний вид главной страницы + по регионам</a:t>
            </a:r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CE4916A2-37BC-97CF-521F-7862D2A1689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57217" y="2103438"/>
            <a:ext cx="7877566" cy="393223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6303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585B-6D4C-B2BE-F4A8-D5ED7E09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35E73-E2C9-B16F-1EBD-318B7164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Внешний вид главной страницы + Детали</a:t>
            </a:r>
          </a:p>
        </p:txBody>
      </p:sp>
      <p:pic>
        <p:nvPicPr>
          <p:cNvPr id="4" name="image9.png">
            <a:extLst>
              <a:ext uri="{FF2B5EF4-FFF2-40B4-BE49-F238E27FC236}">
                <a16:creationId xmlns:a16="http://schemas.microsoft.com/office/drawing/2014/main" id="{59402B73-0651-AA47-3F12-D0E94CE154F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57217" y="2103438"/>
            <a:ext cx="7877566" cy="393223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54533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Савон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TM03457510[[fn=Савон]]</Template>
  <TotalTime>39</TotalTime>
  <Words>549</Words>
  <Application>Microsoft Office PowerPoint</Application>
  <PresentationFormat>Широкоэкранный</PresentationFormat>
  <Paragraphs>66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Garamond</vt:lpstr>
      <vt:lpstr>Савон</vt:lpstr>
      <vt:lpstr>Проектная работа по ТОБД  «Выбросы загрязняющих веществ в воздух по регионам и районам России»</vt:lpstr>
      <vt:lpstr>Содержание</vt:lpstr>
      <vt:lpstr>Этап 1: Определение темы и подготовка данных для проекта</vt:lpstr>
      <vt:lpstr>Внешний вид источника</vt:lpstr>
      <vt:lpstr>Этап 2: Предобработка данных. Настройка ETL-процесса. </vt:lpstr>
      <vt:lpstr>Демонстрация работы оркестратора</vt:lpstr>
      <vt:lpstr>Этап 3: Визуализация. Streamlit</vt:lpstr>
      <vt:lpstr>Внешний вид сайдборда</vt:lpstr>
      <vt:lpstr>Этап 3: Визуализация. Streamlit</vt:lpstr>
      <vt:lpstr>Внешний вид главной страницы + Основные диаграммы</vt:lpstr>
      <vt:lpstr>Внешний вид главной страницы + Динамика</vt:lpstr>
      <vt:lpstr>Внешний вид главной страницы + по регионам</vt:lpstr>
      <vt:lpstr>Внешний вид главной страницы + Детали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 по ТОБД  «Выбросы загрязняющих веществ ввоздух по регионам и районам России»</dc:title>
  <dc:creator>Ярослав Спиридонов</dc:creator>
  <cp:lastModifiedBy>Бабичев Гордей Андреевич</cp:lastModifiedBy>
  <cp:revision>15</cp:revision>
  <dcterms:created xsi:type="dcterms:W3CDTF">2025-12-18T08:04:55Z</dcterms:created>
  <dcterms:modified xsi:type="dcterms:W3CDTF">2025-12-26T07:02:07Z</dcterms:modified>
</cp:coreProperties>
</file>